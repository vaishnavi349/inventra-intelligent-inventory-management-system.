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6" r:id="rId9"/>
    <p:sldId id="267" r:id="rId10"/>
    <p:sldId id="262" r:id="rId11"/>
    <p:sldId id="260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6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C3A3F-B844-473A-A453-623C0688018A}" v="22" dt="2025-12-03T05:14:29.413"/>
    <p1510:client id="{A6F8EB81-08E7-4A25-911F-24F4F3CE47D3}" v="22" dt="2025-12-03T02:34:12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2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82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70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1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69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5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8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8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270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40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517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651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473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34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78BFEA1-F71E-49DF-9F71-89BFD41AE38C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3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B1E1-4CBC-2F64-5E4C-B828BF5D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8736" y="-786581"/>
            <a:ext cx="7364361" cy="4326194"/>
          </a:xfrm>
        </p:spPr>
        <p:txBody>
          <a:bodyPr>
            <a:normAutofit/>
          </a:bodyPr>
          <a:lstStyle/>
          <a:p>
            <a:r>
              <a:rPr lang="en-IN" sz="3200" err="1">
                <a:solidFill>
                  <a:schemeClr val="accent1">
                    <a:lumMod val="75000"/>
                  </a:schemeClr>
                </a:solidFill>
              </a:rPr>
              <a:t>Inventra</a:t>
            </a:r>
            <a:r>
              <a:rPr lang="en-IN" sz="3200">
                <a:solidFill>
                  <a:schemeClr val="accent1">
                    <a:lumMod val="75000"/>
                  </a:schemeClr>
                </a:solidFill>
              </a:rPr>
              <a:t> Intelligent Inventory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699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004-291E-050B-4D1D-D384C88B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IN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itle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0BD6-06D1-B284-52B3-6D5B555D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digital  solution designed to help small businesses track ,manage, and control inventory in an organized and automated way.</a:t>
            </a:r>
          </a:p>
        </p:txBody>
      </p:sp>
    </p:spTree>
    <p:extLst>
      <p:ext uri="{BB962C8B-B14F-4D97-AF65-F5344CB8AC3E}">
        <p14:creationId xmlns:p14="http://schemas.microsoft.com/office/powerpoint/2010/main" val="36905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BFAC-DDF3-6ECC-E48E-A1308974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9103-6BE6-870A-5717-7474C1C97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err="1"/>
              <a:t>Inventra</a:t>
            </a:r>
            <a:r>
              <a:rPr lang="en-US"/>
              <a:t> is a smart, automated, and user-friendly Inventory Management System built using a complete Java Full-Stack architecture.</a:t>
            </a:r>
          </a:p>
          <a:p>
            <a:r>
              <a:rPr lang="en-US"/>
              <a:t>The system enables businesses to efficiently:</a:t>
            </a:r>
          </a:p>
          <a:p>
            <a:r>
              <a:rPr lang="en-US"/>
              <a:t>Track and manage stock levels in real time</a:t>
            </a:r>
          </a:p>
          <a:p>
            <a:r>
              <a:rPr lang="en-US"/>
              <a:t>Handle supplier information and purchase orders</a:t>
            </a:r>
          </a:p>
          <a:p>
            <a:r>
              <a:rPr lang="en-US"/>
              <a:t>Monitor product movement and sales</a:t>
            </a:r>
          </a:p>
          <a:p>
            <a:r>
              <a:rPr lang="en-US"/>
              <a:t>Avoid issues like over-stocking and stock-outs</a:t>
            </a:r>
          </a:p>
          <a:p>
            <a:r>
              <a:rPr lang="en-US" err="1"/>
              <a:t>Inventra</a:t>
            </a:r>
            <a:r>
              <a:rPr lang="en-US"/>
              <a:t> aims to provide a centralized, secure, and intelligent platform that enhances operational efficiency and reduces manual workload.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375F-879A-53CC-277B-65B7FFFE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 STATEMENT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2BE8-A14D-E4CE-A4BB-4561E4A7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Small businesses often face problems like:</a:t>
            </a:r>
          </a:p>
          <a:p>
            <a:r>
              <a:rPr lang="en-US" dirty="0"/>
              <a:t>Not knowing the exact stock level</a:t>
            </a:r>
          </a:p>
          <a:p>
            <a:r>
              <a:rPr lang="en-US" dirty="0"/>
              <a:t>Forgetting to reorder low items</a:t>
            </a:r>
          </a:p>
          <a:p>
            <a:r>
              <a:rPr lang="en-US" dirty="0"/>
              <a:t>Mismanaging daily stock movements</a:t>
            </a:r>
          </a:p>
          <a:p>
            <a:r>
              <a:rPr lang="en-US" dirty="0"/>
              <a:t>Losing track of sales and purchases</a:t>
            </a:r>
          </a:p>
          <a:p>
            <a:r>
              <a:rPr lang="en-US" dirty="0"/>
              <a:t>Manual errors in stock calculations</a:t>
            </a:r>
          </a:p>
          <a:p>
            <a:r>
              <a:rPr lang="en-US" dirty="0"/>
              <a:t>Difficulty preparing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61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7BF1-7EA3-8C21-A9D8-9D387422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chemeClr val="accent1">
                    <a:lumMod val="60000"/>
                    <a:lumOff val="40000"/>
                  </a:schemeClr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A63C-DDE0-7DAD-A8BF-01E02DF2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711" y="2596261"/>
            <a:ext cx="10169012" cy="367672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Number of Modules:</a:t>
            </a:r>
          </a:p>
          <a:p>
            <a:pPr marL="0" indent="0">
              <a:buNone/>
            </a:pPr>
            <a:r>
              <a:rPr lang="en-US"/>
              <a:t>1. Authentication Module</a:t>
            </a:r>
          </a:p>
          <a:p>
            <a:pPr marL="0" indent="0">
              <a:buNone/>
            </a:pPr>
            <a:r>
              <a:rPr lang="en-US"/>
              <a:t>2. Product / Inventory Management Module</a:t>
            </a:r>
          </a:p>
          <a:p>
            <a:pPr marL="0" indent="0">
              <a:buNone/>
            </a:pPr>
            <a:r>
              <a:rPr lang="en-US"/>
              <a:t>3. Inventory Alerts Module</a:t>
            </a:r>
          </a:p>
          <a:p>
            <a:pPr marL="0" indent="0">
              <a:buNone/>
            </a:pPr>
            <a:r>
              <a:rPr lang="en-US"/>
              <a:t>4. Reports &amp; Analytics Module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70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4BF-0BC2-DD71-EE73-00646C88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chemeClr val="accent1">
                    <a:lumMod val="60000"/>
                    <a:lumOff val="40000"/>
                  </a:schemeClr>
                </a:solidFill>
              </a:rPr>
              <a:t>1. Authentication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398A8-7B61-56D4-B369-ADAC77F4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/>
              <a:t>Purpose</a:t>
            </a:r>
            <a:r>
              <a:rPr lang="en-IN"/>
              <a:t>: Handles user login and role-based access.</a:t>
            </a:r>
          </a:p>
          <a:p>
            <a:pPr marL="0" indent="0">
              <a:buNone/>
            </a:pPr>
            <a:r>
              <a:rPr lang="en-IN" b="1"/>
              <a:t>Working Process:</a:t>
            </a:r>
          </a:p>
          <a:p>
            <a:r>
              <a:rPr lang="en-IN"/>
              <a:t>User enters username &amp; password</a:t>
            </a:r>
          </a:p>
          <a:p>
            <a:r>
              <a:rPr lang="en-IN" err="1"/>
              <a:t>AuthController</a:t>
            </a:r>
            <a:r>
              <a:rPr lang="en-IN"/>
              <a:t> → </a:t>
            </a:r>
            <a:r>
              <a:rPr lang="en-IN" err="1"/>
              <a:t>AuthService</a:t>
            </a:r>
            <a:r>
              <a:rPr lang="en-IN"/>
              <a:t> → </a:t>
            </a:r>
            <a:r>
              <a:rPr lang="en-IN" err="1"/>
              <a:t>UserRepository</a:t>
            </a:r>
            <a:endParaRPr lang="en-IN"/>
          </a:p>
          <a:p>
            <a:r>
              <a:rPr lang="en-IN"/>
              <a:t>Database check (Users Table)</a:t>
            </a:r>
          </a:p>
          <a:p>
            <a:r>
              <a:rPr lang="en-IN"/>
              <a:t>If credentials match → Login Successful</a:t>
            </a:r>
          </a:p>
          <a:p>
            <a:r>
              <a:rPr lang="en-IN"/>
              <a:t>If not → Login Failed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6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B392-F7CF-F9CF-5ECF-8B329F62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2. Product / Inventory Management Module</a:t>
            </a:r>
            <a:endParaRPr lang="en-IN" sz="36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65BA-9040-FF3E-9F9B-05FCA1A70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389240"/>
            <a:ext cx="9601196" cy="38837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2600" b="1"/>
          </a:p>
          <a:p>
            <a:pPr marL="0" indent="0">
              <a:buNone/>
            </a:pPr>
            <a:r>
              <a:rPr lang="en-IN" sz="2600" b="1"/>
              <a:t>Purpose</a:t>
            </a:r>
            <a:r>
              <a:rPr lang="en-IN"/>
              <a:t>: Manages products and stock data.</a:t>
            </a:r>
          </a:p>
          <a:p>
            <a:pPr marL="0" indent="0">
              <a:buNone/>
            </a:pPr>
            <a:r>
              <a:rPr lang="en-IN" sz="2600" b="1"/>
              <a:t>Working Process:</a:t>
            </a:r>
          </a:p>
          <a:p>
            <a:r>
              <a:rPr lang="en-IN" err="1"/>
              <a:t>ProductController</a:t>
            </a:r>
            <a:r>
              <a:rPr lang="en-IN"/>
              <a:t> receives request</a:t>
            </a:r>
          </a:p>
          <a:p>
            <a:r>
              <a:rPr lang="en-IN" err="1"/>
              <a:t>ProductService</a:t>
            </a:r>
            <a:r>
              <a:rPr lang="en-IN"/>
              <a:t> performs operations</a:t>
            </a:r>
          </a:p>
          <a:p>
            <a:r>
              <a:rPr lang="en-IN" err="1"/>
              <a:t>ProductRepository</a:t>
            </a:r>
            <a:r>
              <a:rPr lang="en-IN"/>
              <a:t> communicates with database</a:t>
            </a:r>
          </a:p>
          <a:p>
            <a:r>
              <a:rPr lang="en-IN"/>
              <a:t>Database updates Product Table</a:t>
            </a:r>
          </a:p>
          <a:p>
            <a:pPr marL="0" indent="0">
              <a:buNone/>
            </a:pPr>
            <a:r>
              <a:rPr lang="en-IN" sz="2900" b="1"/>
              <a:t>Example operations</a:t>
            </a:r>
            <a:r>
              <a:rPr lang="en-IN" b="1"/>
              <a:t>:</a:t>
            </a:r>
          </a:p>
          <a:p>
            <a:r>
              <a:rPr lang="en-IN"/>
              <a:t>Add Product</a:t>
            </a:r>
          </a:p>
          <a:p>
            <a:r>
              <a:rPr lang="en-IN"/>
              <a:t>Update Stock</a:t>
            </a:r>
          </a:p>
          <a:p>
            <a:r>
              <a:rPr lang="en-IN"/>
              <a:t>Fetch Product List</a:t>
            </a:r>
          </a:p>
        </p:txBody>
      </p:sp>
    </p:spTree>
    <p:extLst>
      <p:ext uri="{BB962C8B-B14F-4D97-AF65-F5344CB8AC3E}">
        <p14:creationId xmlns:p14="http://schemas.microsoft.com/office/powerpoint/2010/main" val="403178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0F7-294E-A429-875D-F7F5DF4A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3. Inventory Alerts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D5C8-C938-2FBC-E5E5-7B87F1CA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8903"/>
            <a:ext cx="9601196" cy="38542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2600" b="1"/>
          </a:p>
          <a:p>
            <a:pPr marL="0" indent="0">
              <a:buNone/>
            </a:pPr>
            <a:r>
              <a:rPr lang="en-IN" sz="2600" b="1"/>
              <a:t>Purpose:</a:t>
            </a:r>
          </a:p>
          <a:p>
            <a:r>
              <a:rPr lang="en-IN"/>
              <a:t> Generates alerts when stock is low.</a:t>
            </a:r>
          </a:p>
          <a:p>
            <a:pPr marL="0" indent="0">
              <a:buNone/>
            </a:pPr>
            <a:r>
              <a:rPr lang="en-IN" sz="2600" b="1"/>
              <a:t>Working Process:</a:t>
            </a:r>
          </a:p>
          <a:p>
            <a:r>
              <a:rPr lang="en-IN" err="1"/>
              <a:t>AlertService</a:t>
            </a:r>
            <a:r>
              <a:rPr lang="en-IN"/>
              <a:t> checks product quantity using </a:t>
            </a:r>
            <a:r>
              <a:rPr lang="en-IN" err="1"/>
              <a:t>ProductRepository</a:t>
            </a:r>
            <a:endParaRPr lang="en-IN"/>
          </a:p>
          <a:p>
            <a:r>
              <a:rPr lang="en-IN"/>
              <a:t>If stock &lt; </a:t>
            </a:r>
            <a:r>
              <a:rPr lang="en-IN" err="1"/>
              <a:t>reorderLevel</a:t>
            </a:r>
            <a:r>
              <a:rPr lang="en-IN"/>
              <a:t> → create alert entry via </a:t>
            </a:r>
            <a:r>
              <a:rPr lang="en-IN" err="1"/>
              <a:t>AlertRepository</a:t>
            </a:r>
            <a:endParaRPr lang="en-IN"/>
          </a:p>
          <a:p>
            <a:r>
              <a:rPr lang="en-IN" err="1"/>
              <a:t>AlertController</a:t>
            </a:r>
            <a:r>
              <a:rPr lang="en-IN"/>
              <a:t> displays alert to user</a:t>
            </a:r>
          </a:p>
          <a:p>
            <a:pPr marL="0" indent="0">
              <a:buNone/>
            </a:pPr>
            <a:r>
              <a:rPr lang="en-IN" b="1"/>
              <a:t>Example Flow:</a:t>
            </a:r>
          </a:p>
          <a:p>
            <a:pPr marL="0" indent="0">
              <a:buNone/>
            </a:pPr>
            <a:r>
              <a:rPr lang="en-IN"/>
              <a:t>1. Scheduler calls </a:t>
            </a:r>
            <a:r>
              <a:rPr lang="en-IN" err="1"/>
              <a:t>checkStockLevels</a:t>
            </a:r>
            <a:r>
              <a:rPr lang="en-IN"/>
              <a:t>()</a:t>
            </a:r>
          </a:p>
          <a:p>
            <a:pPr marL="0" indent="0">
              <a:buNone/>
            </a:pPr>
            <a:r>
              <a:rPr lang="en-IN"/>
              <a:t>2. </a:t>
            </a:r>
            <a:r>
              <a:rPr lang="en-IN" err="1"/>
              <a:t>AlertService</a:t>
            </a:r>
            <a:r>
              <a:rPr lang="en-IN"/>
              <a:t> gets product list</a:t>
            </a:r>
          </a:p>
          <a:p>
            <a:pPr marL="0" indent="0">
              <a:buNone/>
            </a:pPr>
            <a:r>
              <a:rPr lang="en-IN"/>
              <a:t>3. Low-stock products → alert created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6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D1C1-C173-0771-E1A3-E6DFD4FA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4. Reports &amp; Analytics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E6C5-0B3F-62D3-5748-325685E01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9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Purpose: </a:t>
            </a:r>
          </a:p>
          <a:p>
            <a:r>
              <a:rPr lang="en-US"/>
              <a:t>Generates reports and business insights.</a:t>
            </a:r>
          </a:p>
          <a:p>
            <a:pPr marL="0" indent="0">
              <a:buNone/>
            </a:pPr>
            <a:r>
              <a:rPr lang="en-US" sz="2000" b="1"/>
              <a:t>Working Process:</a:t>
            </a:r>
          </a:p>
          <a:p>
            <a:r>
              <a:rPr lang="en-US" err="1"/>
              <a:t>ReportController</a:t>
            </a:r>
            <a:r>
              <a:rPr lang="en-US"/>
              <a:t> receives report request</a:t>
            </a:r>
          </a:p>
          <a:p>
            <a:r>
              <a:rPr lang="en-US" err="1"/>
              <a:t>ReportService</a:t>
            </a:r>
            <a:r>
              <a:rPr lang="en-US"/>
              <a:t> processes data</a:t>
            </a:r>
          </a:p>
          <a:p>
            <a:r>
              <a:rPr lang="en-US" err="1"/>
              <a:t>ReportRepository</a:t>
            </a:r>
            <a:r>
              <a:rPr lang="en-US"/>
              <a:t> fetches data</a:t>
            </a:r>
          </a:p>
        </p:txBody>
      </p:sp>
    </p:spTree>
    <p:extLst>
      <p:ext uri="{BB962C8B-B14F-4D97-AF65-F5344CB8AC3E}">
        <p14:creationId xmlns:p14="http://schemas.microsoft.com/office/powerpoint/2010/main" val="186048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B23221-41F5-1A3D-C238-2F01622838A6}"/>
              </a:ext>
            </a:extLst>
          </p:cNvPr>
          <p:cNvSpPr txBox="1"/>
          <p:nvPr/>
        </p:nvSpPr>
        <p:spPr>
          <a:xfrm>
            <a:off x="1179872" y="1307692"/>
            <a:ext cx="101763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Backend:</a:t>
            </a:r>
            <a:endParaRPr lang="en-IN" dirty="0"/>
          </a:p>
          <a:p>
            <a:r>
              <a:rPr lang="en-IN" dirty="0"/>
              <a:t>      Java 17 / Java 21</a:t>
            </a:r>
          </a:p>
          <a:p>
            <a:r>
              <a:rPr lang="en-IN" dirty="0"/>
              <a:t>      Spring Boot</a:t>
            </a:r>
          </a:p>
          <a:p>
            <a:pPr>
              <a:buNone/>
            </a:pPr>
            <a:r>
              <a:rPr lang="en-IN" b="1" dirty="0"/>
              <a:t>2. Frontend:</a:t>
            </a:r>
          </a:p>
          <a:p>
            <a:pPr>
              <a:buNone/>
            </a:pPr>
            <a:r>
              <a:rPr lang="en-IN" b="1" dirty="0"/>
              <a:t>      </a:t>
            </a:r>
            <a:r>
              <a:rPr lang="en-IN" dirty="0"/>
              <a:t>HTML5, CSS3</a:t>
            </a:r>
          </a:p>
          <a:p>
            <a:r>
              <a:rPr lang="en-IN" dirty="0"/>
              <a:t>      Bootstrap</a:t>
            </a:r>
          </a:p>
          <a:p>
            <a:r>
              <a:rPr lang="en-IN" dirty="0"/>
              <a:t>      JSP / </a:t>
            </a:r>
            <a:r>
              <a:rPr lang="en-IN" dirty="0" err="1"/>
              <a:t>Thymeleaf</a:t>
            </a:r>
            <a:endParaRPr lang="en-IN" dirty="0"/>
          </a:p>
          <a:p>
            <a:pPr>
              <a:buNone/>
            </a:pPr>
            <a:r>
              <a:rPr lang="en-IN" b="1" dirty="0"/>
              <a:t>3. Database:</a:t>
            </a:r>
            <a:endParaRPr lang="en-IN" dirty="0"/>
          </a:p>
          <a:p>
            <a:r>
              <a:rPr lang="en-IN" dirty="0"/>
              <a:t>      MySQL</a:t>
            </a:r>
          </a:p>
          <a:p>
            <a:pPr>
              <a:buNone/>
            </a:pPr>
            <a:r>
              <a:rPr lang="en-IN" b="1" dirty="0"/>
              <a:t>4. Tools / Others:</a:t>
            </a:r>
            <a:endParaRPr lang="en-IN" dirty="0"/>
          </a:p>
          <a:p>
            <a:r>
              <a:rPr lang="en-IN" dirty="0"/>
              <a:t>      Maven (Build Tool)</a:t>
            </a:r>
          </a:p>
          <a:p>
            <a:r>
              <a:rPr lang="en-IN" dirty="0"/>
              <a:t>      Postman (API Testing)</a:t>
            </a:r>
          </a:p>
          <a:p>
            <a:r>
              <a:rPr lang="en-IN" dirty="0"/>
              <a:t>      Git / GitHub (Version Control)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651DD-FB8C-AC32-05C4-17F5CF87DF04}"/>
              </a:ext>
            </a:extLst>
          </p:cNvPr>
          <p:cNvSpPr txBox="1"/>
          <p:nvPr/>
        </p:nvSpPr>
        <p:spPr>
          <a:xfrm>
            <a:off x="3215148" y="560476"/>
            <a:ext cx="61156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5271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2FE6-49D4-93D2-F5B2-A193C9A9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Module1 – 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Authentication &amp; Role Management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C46F-DCBB-3042-EF77-741FB925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1.What It Does:</a:t>
            </a:r>
          </a:p>
          <a:p>
            <a:r>
              <a:rPr lang="en-US" dirty="0"/>
              <a:t>Controls who can log in and what they can access</a:t>
            </a:r>
          </a:p>
          <a:p>
            <a:r>
              <a:rPr lang="en-US" dirty="0"/>
              <a:t>Manages user roles (Admin, Employee)</a:t>
            </a:r>
          </a:p>
          <a:p>
            <a:r>
              <a:rPr lang="en-US" dirty="0"/>
              <a:t>Ensures only authorized users access the system</a:t>
            </a:r>
          </a:p>
          <a:p>
            <a:pPr marL="0" indent="0">
              <a:buNone/>
            </a:pPr>
            <a:r>
              <a:rPr lang="en-US" b="1" dirty="0"/>
              <a:t>2.Key Features:</a:t>
            </a:r>
          </a:p>
          <a:p>
            <a:r>
              <a:rPr lang="en-US" dirty="0"/>
              <a:t>Secure login system</a:t>
            </a:r>
          </a:p>
          <a:p>
            <a:r>
              <a:rPr lang="en-US" dirty="0"/>
              <a:t>JWT-based authentication</a:t>
            </a:r>
          </a:p>
          <a:p>
            <a:r>
              <a:rPr lang="en-US" dirty="0"/>
              <a:t>Role-based access control (Admin / Employee)</a:t>
            </a:r>
          </a:p>
          <a:p>
            <a:r>
              <a:rPr lang="en-US" dirty="0"/>
              <a:t>Admin can create, update, or delete user accounts</a:t>
            </a:r>
          </a:p>
        </p:txBody>
      </p:sp>
    </p:spTree>
    <p:extLst>
      <p:ext uri="{BB962C8B-B14F-4D97-AF65-F5344CB8AC3E}">
        <p14:creationId xmlns:p14="http://schemas.microsoft.com/office/powerpoint/2010/main" val="162834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3CDB5-6161-4FF8-A02D-5C46269F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Classes Involved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E56418-0CCA-D4D5-F027-5461D42E6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AuthController</a:t>
            </a:r>
            <a:r>
              <a:rPr lang="en-US" dirty="0"/>
              <a:t> – Handles requests from UI</a:t>
            </a:r>
          </a:p>
          <a:p>
            <a:r>
              <a:rPr lang="en-IN" b="1" dirty="0" err="1"/>
              <a:t>AuthService</a:t>
            </a:r>
            <a:r>
              <a:rPr lang="en-IN" dirty="0"/>
              <a:t> – Business logic</a:t>
            </a:r>
          </a:p>
          <a:p>
            <a:r>
              <a:rPr lang="en-IN" b="1" dirty="0"/>
              <a:t>User</a:t>
            </a:r>
            <a:r>
              <a:rPr lang="en-IN" dirty="0"/>
              <a:t> – User data model</a:t>
            </a:r>
          </a:p>
          <a:p>
            <a:r>
              <a:rPr lang="en-IN" b="1" dirty="0" err="1"/>
              <a:t>UserRepository</a:t>
            </a:r>
            <a:r>
              <a:rPr lang="en-IN" dirty="0"/>
              <a:t> – Database operations</a:t>
            </a:r>
          </a:p>
          <a:p>
            <a:r>
              <a:rPr lang="en-IN" b="1" dirty="0" err="1"/>
              <a:t>JWTUtility</a:t>
            </a:r>
            <a:r>
              <a:rPr lang="en-IN" dirty="0"/>
              <a:t> – Token generation</a:t>
            </a:r>
          </a:p>
          <a:p>
            <a:r>
              <a:rPr lang="en-IN" b="1" dirty="0" err="1"/>
              <a:t>EmailService</a:t>
            </a:r>
            <a:r>
              <a:rPr lang="en-IN" dirty="0"/>
              <a:t> – Forgot password emails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835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5670-AE12-7172-3509-2D9BF734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AuthController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– Signup (Pseudocode)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92D9F-294C-0C84-0311-F1FA5599A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CLASS </a:t>
            </a:r>
            <a:r>
              <a:rPr lang="en-IN" b="1" dirty="0" err="1"/>
              <a:t>AuthController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    FUNCTION signup(request)             </a:t>
            </a:r>
            <a:r>
              <a:rPr lang="en-IN" dirty="0" err="1"/>
              <a:t>userDetails</a:t>
            </a:r>
            <a:r>
              <a:rPr lang="en-IN" dirty="0"/>
              <a:t> = request data</a:t>
            </a:r>
          </a:p>
          <a:p>
            <a:pPr marL="0" indent="0">
              <a:buNone/>
            </a:pPr>
            <a:r>
              <a:rPr lang="en-IN" dirty="0"/>
              <a:t>     result =            </a:t>
            </a:r>
            <a:r>
              <a:rPr lang="en-IN" dirty="0" err="1"/>
              <a:t>AuthService.registerUser</a:t>
            </a:r>
            <a:r>
              <a:rPr lang="en-IN" dirty="0"/>
              <a:t>(</a:t>
            </a:r>
            <a:r>
              <a:rPr lang="en-IN" dirty="0" err="1"/>
              <a:t>userDetails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RETURN result</a:t>
            </a:r>
          </a:p>
          <a:p>
            <a:pPr marL="0" indent="0">
              <a:buNone/>
            </a:pPr>
            <a:r>
              <a:rPr lang="en-IN" dirty="0"/>
              <a:t>    END FUNCTION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END CLASS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11C1C-E107-6944-C62B-C726A0102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Why Signup is Needed</a:t>
            </a:r>
          </a:p>
          <a:p>
            <a:r>
              <a:rPr lang="en-US" sz="2400" dirty="0"/>
              <a:t>Create new user account</a:t>
            </a:r>
          </a:p>
          <a:p>
            <a:r>
              <a:rPr lang="en-US" sz="2400" dirty="0"/>
              <a:t>Only Admin can register employees</a:t>
            </a:r>
          </a:p>
          <a:p>
            <a:r>
              <a:rPr lang="en-US" sz="2400" dirty="0"/>
              <a:t>Prevent duplicate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292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EA43A-C5E9-616E-A6EE-A63158FF0A46}"/>
              </a:ext>
            </a:extLst>
          </p:cNvPr>
          <p:cNvSpPr txBox="1"/>
          <p:nvPr/>
        </p:nvSpPr>
        <p:spPr>
          <a:xfrm>
            <a:off x="2358189" y="850232"/>
            <a:ext cx="67938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AuthService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– Signup Logic (Pseudocode)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D83EE-259E-0A1E-F2AC-99F64BCDEF70}"/>
              </a:ext>
            </a:extLst>
          </p:cNvPr>
          <p:cNvSpPr txBox="1"/>
          <p:nvPr/>
        </p:nvSpPr>
        <p:spPr>
          <a:xfrm>
            <a:off x="1106905" y="1812758"/>
            <a:ext cx="10619874" cy="4362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AuthService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FUNCTION </a:t>
            </a:r>
            <a:r>
              <a:rPr lang="en-IN" dirty="0" err="1"/>
              <a:t>registerUser</a:t>
            </a:r>
            <a:r>
              <a:rPr lang="en-IN" dirty="0"/>
              <a:t>(</a:t>
            </a:r>
            <a:r>
              <a:rPr lang="en-IN" dirty="0" err="1"/>
              <a:t>userDetails</a:t>
            </a:r>
            <a:r>
              <a:rPr lang="en-IN" dirty="0"/>
              <a:t>)</a:t>
            </a:r>
          </a:p>
          <a:p>
            <a:r>
              <a:rPr lang="en-IN" dirty="0"/>
              <a:t>        </a:t>
            </a:r>
            <a:r>
              <a:rPr lang="en-IN" dirty="0" err="1"/>
              <a:t>existingUser</a:t>
            </a:r>
            <a:r>
              <a:rPr lang="en-IN" dirty="0"/>
              <a:t> = </a:t>
            </a:r>
            <a:r>
              <a:rPr lang="en-IN" dirty="0" err="1"/>
              <a:t>UserRepository.findByUsername</a:t>
            </a:r>
            <a:r>
              <a:rPr lang="en-IN" dirty="0"/>
              <a:t>(</a:t>
            </a:r>
            <a:r>
              <a:rPr lang="en-IN" dirty="0" err="1"/>
              <a:t>userDetails.username</a:t>
            </a:r>
            <a:r>
              <a:rPr lang="en-IN" dirty="0"/>
              <a:t>)</a:t>
            </a:r>
          </a:p>
          <a:p>
            <a:r>
              <a:rPr lang="en-IN" dirty="0"/>
              <a:t>        IF </a:t>
            </a:r>
            <a:r>
              <a:rPr lang="en-IN" dirty="0" err="1"/>
              <a:t>existingUser</a:t>
            </a:r>
            <a:r>
              <a:rPr lang="en-IN" dirty="0"/>
              <a:t> exists THEN</a:t>
            </a:r>
          </a:p>
          <a:p>
            <a:r>
              <a:rPr lang="en-IN" dirty="0"/>
              <a:t>            RETURN "User already exists"</a:t>
            </a:r>
          </a:p>
          <a:p>
            <a:r>
              <a:rPr lang="en-IN" dirty="0"/>
              <a:t>        END IF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encryptedPassword</a:t>
            </a:r>
            <a:r>
              <a:rPr lang="en-IN" dirty="0"/>
              <a:t> = encrypt(</a:t>
            </a:r>
            <a:r>
              <a:rPr lang="en-IN" dirty="0" err="1"/>
              <a:t>userDetails.password</a:t>
            </a:r>
            <a:r>
              <a:rPr lang="en-IN" dirty="0"/>
              <a:t>)</a:t>
            </a:r>
          </a:p>
          <a:p>
            <a:r>
              <a:rPr lang="en-IN" dirty="0"/>
              <a:t>        </a:t>
            </a:r>
            <a:r>
              <a:rPr lang="en-IN" dirty="0" err="1"/>
              <a:t>newUser</a:t>
            </a:r>
            <a:r>
              <a:rPr lang="en-IN" dirty="0"/>
              <a:t> = create User</a:t>
            </a:r>
          </a:p>
          <a:p>
            <a:r>
              <a:rPr lang="en-IN" dirty="0"/>
              <a:t>        set username, password, role, email</a:t>
            </a:r>
          </a:p>
          <a:p>
            <a:r>
              <a:rPr lang="en-IN" dirty="0"/>
              <a:t>       </a:t>
            </a:r>
            <a:r>
              <a:rPr lang="en-IN" dirty="0" err="1"/>
              <a:t>UserRepository.save</a:t>
            </a:r>
            <a:r>
              <a:rPr lang="en-IN" dirty="0"/>
              <a:t>(</a:t>
            </a:r>
            <a:r>
              <a:rPr lang="en-IN" dirty="0" err="1"/>
              <a:t>newUser</a:t>
            </a:r>
            <a:r>
              <a:rPr lang="en-IN" dirty="0"/>
              <a:t>)</a:t>
            </a:r>
          </a:p>
          <a:p>
            <a:r>
              <a:rPr lang="en-IN" dirty="0"/>
              <a:t>       RETURN "Signup successful"</a:t>
            </a:r>
          </a:p>
          <a:p>
            <a:r>
              <a:rPr lang="en-IN" dirty="0"/>
              <a:t>       END FUNCTION</a:t>
            </a:r>
          </a:p>
          <a:p>
            <a:r>
              <a:rPr lang="en-IN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268192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835462-0016-72EE-57AC-B949A6F7F154}"/>
              </a:ext>
            </a:extLst>
          </p:cNvPr>
          <p:cNvSpPr txBox="1"/>
          <p:nvPr/>
        </p:nvSpPr>
        <p:spPr>
          <a:xfrm>
            <a:off x="1138990" y="802106"/>
            <a:ext cx="8013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AuthController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–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Signin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60436-E195-059F-4D06-E5EBDFF40C94}"/>
              </a:ext>
            </a:extLst>
          </p:cNvPr>
          <p:cNvSpPr txBox="1"/>
          <p:nvPr/>
        </p:nvSpPr>
        <p:spPr>
          <a:xfrm>
            <a:off x="1138989" y="1540042"/>
            <a:ext cx="80130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AuthController.signin</a:t>
            </a:r>
            <a:r>
              <a:rPr lang="en-IN" sz="2400" dirty="0"/>
              <a:t>(request)</a:t>
            </a:r>
          </a:p>
          <a:p>
            <a:r>
              <a:rPr lang="en-IN" sz="2400" dirty="0"/>
              <a:t>    return </a:t>
            </a:r>
            <a:r>
              <a:rPr lang="en-IN" sz="2400" dirty="0" err="1"/>
              <a:t>AuthService.authenticate</a:t>
            </a:r>
            <a:r>
              <a:rPr lang="en-IN" sz="2400" dirty="0"/>
              <a:t>(</a:t>
            </a:r>
          </a:p>
          <a:p>
            <a:r>
              <a:rPr lang="en-IN" sz="2400" dirty="0"/>
              <a:t>        </a:t>
            </a:r>
            <a:r>
              <a:rPr lang="en-IN" sz="2400" dirty="0" err="1"/>
              <a:t>request.username</a:t>
            </a:r>
            <a:r>
              <a:rPr lang="en-IN" sz="2400" dirty="0"/>
              <a:t>, </a:t>
            </a:r>
            <a:r>
              <a:rPr lang="en-IN" sz="2400" dirty="0" err="1"/>
              <a:t>request.password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B1917-3686-9216-8197-F4FDADB7BD8F}"/>
              </a:ext>
            </a:extLst>
          </p:cNvPr>
          <p:cNvSpPr txBox="1"/>
          <p:nvPr/>
        </p:nvSpPr>
        <p:spPr>
          <a:xfrm>
            <a:off x="1138989" y="2893532"/>
            <a:ext cx="80130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AuthService.authenticate</a:t>
            </a:r>
            <a:r>
              <a:rPr lang="en-IN" dirty="0"/>
              <a:t>(username, password)</a:t>
            </a:r>
          </a:p>
          <a:p>
            <a:r>
              <a:rPr lang="en-IN" dirty="0"/>
              <a:t>    user = </a:t>
            </a:r>
            <a:r>
              <a:rPr lang="en-IN" dirty="0" err="1"/>
              <a:t>UserRepository.findByUsername</a:t>
            </a:r>
            <a:r>
              <a:rPr lang="en-IN" dirty="0"/>
              <a:t>(username)</a:t>
            </a:r>
          </a:p>
          <a:p>
            <a:endParaRPr lang="en-IN" dirty="0"/>
          </a:p>
          <a:p>
            <a:r>
              <a:rPr lang="en-IN" dirty="0"/>
              <a:t>    IF user not exists</a:t>
            </a:r>
          </a:p>
          <a:p>
            <a:r>
              <a:rPr lang="en-IN" dirty="0"/>
              <a:t>        RETURN "Invalid username"</a:t>
            </a:r>
          </a:p>
          <a:p>
            <a:r>
              <a:rPr lang="en-IN" dirty="0"/>
              <a:t>    END IF</a:t>
            </a:r>
          </a:p>
          <a:p>
            <a:endParaRPr lang="en-IN" dirty="0"/>
          </a:p>
          <a:p>
            <a:r>
              <a:rPr lang="en-IN" dirty="0"/>
              <a:t>    IF password matches</a:t>
            </a:r>
          </a:p>
          <a:p>
            <a:r>
              <a:rPr lang="en-IN" dirty="0"/>
              <a:t>        RETURN </a:t>
            </a:r>
            <a:r>
              <a:rPr lang="en-IN" dirty="0" err="1"/>
              <a:t>JWTUtility.generateToken</a:t>
            </a:r>
            <a:r>
              <a:rPr lang="en-IN" dirty="0"/>
              <a:t>(user)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RETURN "Invalid password"</a:t>
            </a:r>
          </a:p>
          <a:p>
            <a:r>
              <a:rPr lang="en-IN" dirty="0"/>
              <a:t>    END IF</a:t>
            </a:r>
          </a:p>
        </p:txBody>
      </p:sp>
    </p:spTree>
    <p:extLst>
      <p:ext uri="{BB962C8B-B14F-4D97-AF65-F5344CB8AC3E}">
        <p14:creationId xmlns:p14="http://schemas.microsoft.com/office/powerpoint/2010/main" val="139858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C8D24-2292-673B-99DA-FE38ECAFD39D}"/>
              </a:ext>
            </a:extLst>
          </p:cNvPr>
          <p:cNvSpPr txBox="1"/>
          <p:nvPr/>
        </p:nvSpPr>
        <p:spPr>
          <a:xfrm>
            <a:off x="962526" y="753980"/>
            <a:ext cx="8189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AuthService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– Forgot Password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EC0B0-2B9C-FCB5-3A08-A3A9F86B99ED}"/>
              </a:ext>
            </a:extLst>
          </p:cNvPr>
          <p:cNvSpPr txBox="1"/>
          <p:nvPr/>
        </p:nvSpPr>
        <p:spPr>
          <a:xfrm>
            <a:off x="962526" y="1338755"/>
            <a:ext cx="818949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AuthService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FUNCTION </a:t>
            </a:r>
            <a:r>
              <a:rPr lang="en-IN" dirty="0" err="1"/>
              <a:t>processForgotPassword</a:t>
            </a:r>
            <a:r>
              <a:rPr lang="en-IN" dirty="0"/>
              <a:t>(email)</a:t>
            </a:r>
          </a:p>
          <a:p>
            <a:endParaRPr lang="en-IN" dirty="0"/>
          </a:p>
          <a:p>
            <a:r>
              <a:rPr lang="en-IN" dirty="0"/>
              <a:t>        user = </a:t>
            </a:r>
            <a:r>
              <a:rPr lang="en-IN" dirty="0" err="1"/>
              <a:t>UserRepository.findByEmail</a:t>
            </a:r>
            <a:r>
              <a:rPr lang="en-IN" dirty="0"/>
              <a:t>(email)</a:t>
            </a:r>
          </a:p>
          <a:p>
            <a:endParaRPr lang="en-IN" dirty="0"/>
          </a:p>
          <a:p>
            <a:r>
              <a:rPr lang="en-IN" dirty="0"/>
              <a:t>        IF user not exists THEN</a:t>
            </a:r>
          </a:p>
          <a:p>
            <a:r>
              <a:rPr lang="en-IN" dirty="0"/>
              <a:t>            RETURN "Email not registered"</a:t>
            </a:r>
          </a:p>
          <a:p>
            <a:r>
              <a:rPr lang="en-IN" dirty="0"/>
              <a:t>        END IF</a:t>
            </a:r>
          </a:p>
          <a:p>
            <a:r>
              <a:rPr lang="en-IN" dirty="0"/>
              <a:t>      </a:t>
            </a:r>
            <a:r>
              <a:rPr lang="en-IN" dirty="0" err="1"/>
              <a:t>resetToken</a:t>
            </a:r>
            <a:r>
              <a:rPr lang="en-IN" dirty="0"/>
              <a:t> = </a:t>
            </a:r>
            <a:r>
              <a:rPr lang="en-IN" dirty="0" err="1"/>
              <a:t>generateResetToken</a:t>
            </a:r>
            <a:r>
              <a:rPr lang="en-IN" dirty="0"/>
              <a:t>()</a:t>
            </a:r>
          </a:p>
          <a:p>
            <a:r>
              <a:rPr lang="en-IN" dirty="0"/>
              <a:t>        save token with user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EmailService.sendResetLink</a:t>
            </a:r>
            <a:r>
              <a:rPr lang="en-IN" dirty="0"/>
              <a:t>(email, </a:t>
            </a:r>
            <a:r>
              <a:rPr lang="en-IN" dirty="0" err="1"/>
              <a:t>resetToken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        RETURN "Reset link sent"</a:t>
            </a:r>
          </a:p>
          <a:p>
            <a:r>
              <a:rPr lang="en-IN" dirty="0"/>
              <a:t>END FUNCTION</a:t>
            </a:r>
          </a:p>
          <a:p>
            <a:r>
              <a:rPr lang="en-IN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101574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513A7-C503-EC33-4025-EBCD3D1DAD4F}"/>
              </a:ext>
            </a:extLst>
          </p:cNvPr>
          <p:cNvSpPr txBox="1"/>
          <p:nvPr/>
        </p:nvSpPr>
        <p:spPr>
          <a:xfrm>
            <a:off x="866274" y="641684"/>
            <a:ext cx="8285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Reset Password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9E7FD-014B-A12B-CF25-9A1390436765}"/>
              </a:ext>
            </a:extLst>
          </p:cNvPr>
          <p:cNvSpPr txBox="1"/>
          <p:nvPr/>
        </p:nvSpPr>
        <p:spPr>
          <a:xfrm>
            <a:off x="1010653" y="1288014"/>
            <a:ext cx="81413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AuthService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FUNCTION </a:t>
            </a:r>
            <a:r>
              <a:rPr lang="en-IN" dirty="0" err="1"/>
              <a:t>resetPassword</a:t>
            </a:r>
            <a:r>
              <a:rPr lang="en-IN" dirty="0"/>
              <a:t>(token, </a:t>
            </a:r>
            <a:r>
              <a:rPr lang="en-IN" dirty="0" err="1"/>
              <a:t>newPassword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        user = find user by token</a:t>
            </a:r>
          </a:p>
          <a:p>
            <a:r>
              <a:rPr lang="en-IN" dirty="0"/>
              <a:t>        IF token invalid THEN</a:t>
            </a:r>
          </a:p>
          <a:p>
            <a:r>
              <a:rPr lang="en-IN" dirty="0"/>
              <a:t>            RETURN "Invalid token"</a:t>
            </a:r>
          </a:p>
          <a:p>
            <a:r>
              <a:rPr lang="en-IN" dirty="0"/>
              <a:t>        END IF</a:t>
            </a:r>
          </a:p>
          <a:p>
            <a:endParaRPr lang="en-IN" dirty="0"/>
          </a:p>
          <a:p>
            <a:r>
              <a:rPr lang="en-IN" dirty="0"/>
              <a:t>        encrypt new password</a:t>
            </a:r>
          </a:p>
          <a:p>
            <a:r>
              <a:rPr lang="en-IN" dirty="0"/>
              <a:t>        update user password</a:t>
            </a:r>
          </a:p>
          <a:p>
            <a:r>
              <a:rPr lang="en-IN" dirty="0"/>
              <a:t>        clear token</a:t>
            </a:r>
          </a:p>
          <a:p>
            <a:endParaRPr lang="en-IN" dirty="0"/>
          </a:p>
          <a:p>
            <a:r>
              <a:rPr lang="en-IN" dirty="0"/>
              <a:t>        RETURN "Password reset successful"</a:t>
            </a:r>
          </a:p>
          <a:p>
            <a:endParaRPr lang="en-IN" dirty="0"/>
          </a:p>
          <a:p>
            <a:r>
              <a:rPr lang="en-IN" dirty="0"/>
              <a:t>    END FUNCTION</a:t>
            </a:r>
          </a:p>
          <a:p>
            <a:endParaRPr lang="en-IN" dirty="0"/>
          </a:p>
          <a:p>
            <a:r>
              <a:rPr lang="en-IN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1626914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4186-5EE7-180F-417B-A5A5E66A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 2 – Product &amp; Inventory Management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BB93A-61B0-C434-3224-67B4B8FE6CA0}"/>
              </a:ext>
            </a:extLst>
          </p:cNvPr>
          <p:cNvSpPr txBox="1"/>
          <p:nvPr/>
        </p:nvSpPr>
        <p:spPr>
          <a:xfrm>
            <a:off x="1295402" y="2438399"/>
            <a:ext cx="78566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What It Does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Manages product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Tracks stock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Ensures correct product availability</a:t>
            </a:r>
          </a:p>
          <a:p>
            <a:pPr>
              <a:buNone/>
            </a:pPr>
            <a:r>
              <a:rPr lang="en-US" sz="2400" b="1" dirty="0"/>
              <a:t>Product Fields Include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SKU (unique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Product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Supplier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Unit Price</a:t>
            </a:r>
          </a:p>
        </p:txBody>
      </p:sp>
    </p:spTree>
    <p:extLst>
      <p:ext uri="{BB962C8B-B14F-4D97-AF65-F5344CB8AC3E}">
        <p14:creationId xmlns:p14="http://schemas.microsoft.com/office/powerpoint/2010/main" val="1355055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122C-7FD2-E080-E032-9A92A407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Classes involved in Module 2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C9DC55-371F-3D1F-D836-32B0DEAC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Product</a:t>
            </a:r>
            <a:r>
              <a:rPr lang="en-US" dirty="0"/>
              <a:t> – Entity class (stores product and stock details)</a:t>
            </a:r>
          </a:p>
          <a:p>
            <a:r>
              <a:rPr lang="en-US" b="1" dirty="0" err="1"/>
              <a:t>ProductController</a:t>
            </a:r>
            <a:r>
              <a:rPr lang="en-US" dirty="0"/>
              <a:t> – Handles requests from UI</a:t>
            </a:r>
          </a:p>
          <a:p>
            <a:r>
              <a:rPr lang="en-US" b="1" dirty="0" err="1"/>
              <a:t>ProductService</a:t>
            </a:r>
            <a:r>
              <a:rPr lang="en-US" dirty="0"/>
              <a:t> – Contains business logic for inventory</a:t>
            </a:r>
          </a:p>
          <a:p>
            <a:r>
              <a:rPr lang="en-IN" b="1" dirty="0" err="1"/>
              <a:t>ProductRepository</a:t>
            </a:r>
            <a:r>
              <a:rPr lang="en-IN" dirty="0"/>
              <a:t> – Handles database operations</a:t>
            </a:r>
          </a:p>
        </p:txBody>
      </p:sp>
    </p:spTree>
    <p:extLst>
      <p:ext uri="{BB962C8B-B14F-4D97-AF65-F5344CB8AC3E}">
        <p14:creationId xmlns:p14="http://schemas.microsoft.com/office/powerpoint/2010/main" val="4249150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CFA29C-2451-CC06-8228-925A7B7EAD86}"/>
              </a:ext>
            </a:extLst>
          </p:cNvPr>
          <p:cNvSpPr txBox="1"/>
          <p:nvPr/>
        </p:nvSpPr>
        <p:spPr>
          <a:xfrm>
            <a:off x="866274" y="609600"/>
            <a:ext cx="82857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 Class(Pseudocode)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10D88-6845-357A-1217-7B062617D596}"/>
              </a:ext>
            </a:extLst>
          </p:cNvPr>
          <p:cNvSpPr txBox="1"/>
          <p:nvPr/>
        </p:nvSpPr>
        <p:spPr>
          <a:xfrm>
            <a:off x="1138988" y="1443789"/>
            <a:ext cx="85825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CLASS Product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productId</a:t>
            </a:r>
            <a:endParaRPr lang="en-IN" sz="2800" dirty="0"/>
          </a:p>
          <a:p>
            <a:r>
              <a:rPr lang="en-IN" sz="2800" dirty="0"/>
              <a:t>    </a:t>
            </a:r>
            <a:r>
              <a:rPr lang="en-IN" sz="2800" dirty="0" err="1"/>
              <a:t>sku</a:t>
            </a:r>
            <a:endParaRPr lang="en-IN" sz="2800" dirty="0"/>
          </a:p>
          <a:p>
            <a:r>
              <a:rPr lang="en-IN" sz="2800" dirty="0"/>
              <a:t>    name</a:t>
            </a:r>
          </a:p>
          <a:p>
            <a:r>
              <a:rPr lang="en-IN" sz="2800" dirty="0"/>
              <a:t>    category</a:t>
            </a:r>
          </a:p>
          <a:p>
            <a:r>
              <a:rPr lang="en-IN" sz="2800" dirty="0"/>
              <a:t>    supplier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unitPrice</a:t>
            </a:r>
            <a:endParaRPr lang="en-IN" sz="2800" dirty="0"/>
          </a:p>
          <a:p>
            <a:r>
              <a:rPr lang="en-IN" sz="2800" dirty="0"/>
              <a:t>    </a:t>
            </a:r>
            <a:r>
              <a:rPr lang="en-IN" sz="2800" dirty="0" err="1"/>
              <a:t>stockQuantity</a:t>
            </a:r>
            <a:endParaRPr lang="en-IN" sz="2800" dirty="0"/>
          </a:p>
          <a:p>
            <a:r>
              <a:rPr lang="en-IN" sz="2800" dirty="0"/>
              <a:t>    </a:t>
            </a:r>
            <a:r>
              <a:rPr lang="en-IN" sz="2800" dirty="0" err="1"/>
              <a:t>minStockLevel</a:t>
            </a:r>
            <a:endParaRPr lang="en-IN" sz="2800" dirty="0"/>
          </a:p>
          <a:p>
            <a:r>
              <a:rPr lang="en-IN" sz="2800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848072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6B94C5-2A17-4007-6CFF-D8A1009CDC42}"/>
              </a:ext>
            </a:extLst>
          </p:cNvPr>
          <p:cNvSpPr txBox="1"/>
          <p:nvPr/>
        </p:nvSpPr>
        <p:spPr>
          <a:xfrm>
            <a:off x="770021" y="705854"/>
            <a:ext cx="838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ProductController</a:t>
            </a:r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Class(Pseudocode)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0CEB6-BF4A-4599-B997-24FE02B9AB96}"/>
              </a:ext>
            </a:extLst>
          </p:cNvPr>
          <p:cNvSpPr txBox="1"/>
          <p:nvPr/>
        </p:nvSpPr>
        <p:spPr>
          <a:xfrm>
            <a:off x="962526" y="1540042"/>
            <a:ext cx="818949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CLASS </a:t>
            </a:r>
            <a:r>
              <a:rPr lang="en-IN" sz="2000" dirty="0" err="1"/>
              <a:t>ProductController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  FUNCTION </a:t>
            </a:r>
            <a:r>
              <a:rPr lang="en-IN" sz="2000" dirty="0" err="1"/>
              <a:t>addProduct</a:t>
            </a:r>
            <a:r>
              <a:rPr lang="en-IN" sz="2000" dirty="0"/>
              <a:t>(</a:t>
            </a:r>
            <a:r>
              <a:rPr lang="en-IN" sz="2000" dirty="0" err="1"/>
              <a:t>productData</a:t>
            </a:r>
            <a:r>
              <a:rPr lang="en-IN" sz="2000" dirty="0"/>
              <a:t>)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ProductService.addProduct</a:t>
            </a:r>
            <a:r>
              <a:rPr lang="en-IN" sz="2000" dirty="0"/>
              <a:t>(</a:t>
            </a:r>
            <a:r>
              <a:rPr lang="en-IN" sz="2000" dirty="0" err="1"/>
              <a:t>productData</a:t>
            </a:r>
            <a:r>
              <a:rPr lang="en-IN" sz="2000" dirty="0"/>
              <a:t>)</a:t>
            </a:r>
          </a:p>
          <a:p>
            <a:r>
              <a:rPr lang="en-IN" sz="2000" dirty="0"/>
              <a:t>    END FUNCTION</a:t>
            </a:r>
          </a:p>
          <a:p>
            <a:endParaRPr lang="en-IN" sz="2000" dirty="0"/>
          </a:p>
          <a:p>
            <a:r>
              <a:rPr lang="en-IN" sz="2000" dirty="0"/>
              <a:t>    FUNCTION </a:t>
            </a:r>
            <a:r>
              <a:rPr lang="en-IN" sz="2000" dirty="0" err="1"/>
              <a:t>stockIn</a:t>
            </a:r>
            <a:r>
              <a:rPr lang="en-IN" sz="2000" dirty="0"/>
              <a:t>(</a:t>
            </a:r>
            <a:r>
              <a:rPr lang="en-IN" sz="2000" dirty="0" err="1"/>
              <a:t>productId</a:t>
            </a:r>
            <a:r>
              <a:rPr lang="en-IN" sz="2000" dirty="0"/>
              <a:t>, quantity)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ProductService.increaseStock</a:t>
            </a:r>
            <a:r>
              <a:rPr lang="en-IN" sz="2000" dirty="0"/>
              <a:t>(</a:t>
            </a:r>
            <a:r>
              <a:rPr lang="en-IN" sz="2000" dirty="0" err="1"/>
              <a:t>productId</a:t>
            </a:r>
            <a:r>
              <a:rPr lang="en-IN" sz="2000" dirty="0"/>
              <a:t>, quantity)</a:t>
            </a:r>
          </a:p>
          <a:p>
            <a:r>
              <a:rPr lang="en-IN" sz="2000" dirty="0"/>
              <a:t>    END FUNCTION</a:t>
            </a:r>
          </a:p>
          <a:p>
            <a:endParaRPr lang="en-IN" sz="2000" dirty="0"/>
          </a:p>
          <a:p>
            <a:r>
              <a:rPr lang="en-IN" sz="2000" dirty="0"/>
              <a:t>    FUNCTION </a:t>
            </a:r>
            <a:r>
              <a:rPr lang="en-IN" sz="2000" dirty="0" err="1"/>
              <a:t>stockOut</a:t>
            </a:r>
            <a:r>
              <a:rPr lang="en-IN" sz="2000" dirty="0"/>
              <a:t>(</a:t>
            </a:r>
            <a:r>
              <a:rPr lang="en-IN" sz="2000" dirty="0" err="1"/>
              <a:t>productId</a:t>
            </a:r>
            <a:r>
              <a:rPr lang="en-IN" sz="2000" dirty="0"/>
              <a:t>, quantity)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ProductService.decreaseStock</a:t>
            </a:r>
            <a:r>
              <a:rPr lang="en-IN" sz="2000" dirty="0"/>
              <a:t>(</a:t>
            </a:r>
            <a:r>
              <a:rPr lang="en-IN" sz="2000" dirty="0" err="1"/>
              <a:t>productId</a:t>
            </a:r>
            <a:r>
              <a:rPr lang="en-IN" sz="2000" dirty="0"/>
              <a:t>, quantity)</a:t>
            </a:r>
          </a:p>
          <a:p>
            <a:r>
              <a:rPr lang="en-IN" sz="2000" dirty="0"/>
              <a:t>    END FUNCTION</a:t>
            </a:r>
          </a:p>
          <a:p>
            <a:endParaRPr lang="en-IN" sz="2000" dirty="0"/>
          </a:p>
          <a:p>
            <a:r>
              <a:rPr lang="en-IN" sz="2000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2785817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6BD203-117B-17B2-1F18-28496D06D32F}"/>
              </a:ext>
            </a:extLst>
          </p:cNvPr>
          <p:cNvSpPr txBox="1"/>
          <p:nvPr/>
        </p:nvSpPr>
        <p:spPr>
          <a:xfrm>
            <a:off x="689811" y="641684"/>
            <a:ext cx="84622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ProductService</a:t>
            </a:r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Class(Pseudocode)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67E9D-CDFE-8ECE-C606-86282C357367}"/>
              </a:ext>
            </a:extLst>
          </p:cNvPr>
          <p:cNvSpPr txBox="1"/>
          <p:nvPr/>
        </p:nvSpPr>
        <p:spPr>
          <a:xfrm>
            <a:off x="689811" y="1349570"/>
            <a:ext cx="83017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</a:t>
            </a:r>
            <a:r>
              <a:rPr lang="en-IN" b="1" dirty="0" err="1"/>
              <a:t>ProductService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   </a:t>
            </a:r>
            <a:r>
              <a:rPr lang="en-IN" dirty="0" err="1"/>
              <a:t>addProduct</a:t>
            </a:r>
            <a:r>
              <a:rPr lang="en-IN" dirty="0"/>
              <a:t>(data)</a:t>
            </a:r>
          </a:p>
          <a:p>
            <a:r>
              <a:rPr lang="en-IN" dirty="0"/>
              <a:t>     IF SKU exists → RETURN "Duplicate"</a:t>
            </a:r>
          </a:p>
          <a:p>
            <a:r>
              <a:rPr lang="en-IN" dirty="0"/>
              <a:t>     save product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increaseStock</a:t>
            </a:r>
            <a:r>
              <a:rPr lang="en-IN" dirty="0"/>
              <a:t>(id, qty)</a:t>
            </a:r>
          </a:p>
          <a:p>
            <a:r>
              <a:rPr lang="en-IN" dirty="0"/>
              <a:t>    </a:t>
            </a:r>
            <a:r>
              <a:rPr lang="en-IN" dirty="0" err="1"/>
              <a:t>product.stock</a:t>
            </a:r>
            <a:r>
              <a:rPr lang="en-IN" dirty="0"/>
              <a:t> += qty</a:t>
            </a:r>
          </a:p>
          <a:p>
            <a:r>
              <a:rPr lang="en-IN" dirty="0"/>
              <a:t>    save product</a:t>
            </a:r>
          </a:p>
          <a:p>
            <a:r>
              <a:rPr lang="en-IN" dirty="0"/>
              <a:t>    log STOCK_IN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decreaseStock</a:t>
            </a:r>
            <a:r>
              <a:rPr lang="en-IN" dirty="0"/>
              <a:t>(id, qty)</a:t>
            </a:r>
          </a:p>
          <a:p>
            <a:r>
              <a:rPr lang="en-IN" dirty="0"/>
              <a:t>    IF stock &lt; qty → RETURN "Insufficient"</a:t>
            </a:r>
          </a:p>
          <a:p>
            <a:r>
              <a:rPr lang="en-IN" dirty="0"/>
              <a:t>    </a:t>
            </a:r>
            <a:r>
              <a:rPr lang="en-IN" dirty="0" err="1"/>
              <a:t>product.stock</a:t>
            </a:r>
            <a:r>
              <a:rPr lang="en-IN" dirty="0"/>
              <a:t> -= qty</a:t>
            </a:r>
          </a:p>
          <a:p>
            <a:r>
              <a:rPr lang="en-IN" dirty="0"/>
              <a:t>    save product</a:t>
            </a:r>
          </a:p>
          <a:p>
            <a:r>
              <a:rPr lang="en-IN" dirty="0"/>
              <a:t>    log STOCK_OUT</a:t>
            </a:r>
          </a:p>
          <a:p>
            <a:r>
              <a:rPr lang="en-IN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2096570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FDB55-D300-4D61-E050-98548DA2409C}"/>
              </a:ext>
            </a:extLst>
          </p:cNvPr>
          <p:cNvSpPr txBox="1"/>
          <p:nvPr/>
        </p:nvSpPr>
        <p:spPr>
          <a:xfrm>
            <a:off x="753979" y="625642"/>
            <a:ext cx="83980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ProductRepository</a:t>
            </a:r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Class(</a:t>
            </a:r>
            <a:r>
              <a:rPr lang="en-IN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Pseudocode</a:t>
            </a:r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2650C-B8B3-252A-C0C9-7072796310C2}"/>
              </a:ext>
            </a:extLst>
          </p:cNvPr>
          <p:cNvSpPr txBox="1"/>
          <p:nvPr/>
        </p:nvSpPr>
        <p:spPr>
          <a:xfrm>
            <a:off x="1187116" y="1333528"/>
            <a:ext cx="796490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CLASS </a:t>
            </a:r>
            <a:r>
              <a:rPr lang="en-IN" sz="2400" dirty="0" err="1"/>
              <a:t>ProductRepository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    FUNCTION </a:t>
            </a:r>
            <a:r>
              <a:rPr lang="en-IN" sz="2400" dirty="0" err="1"/>
              <a:t>findById</a:t>
            </a:r>
            <a:r>
              <a:rPr lang="en-IN" sz="2400" dirty="0"/>
              <a:t>(</a:t>
            </a:r>
            <a:r>
              <a:rPr lang="en-IN" sz="2400" dirty="0" err="1"/>
              <a:t>productId</a:t>
            </a:r>
            <a:r>
              <a:rPr lang="en-IN" sz="2400" dirty="0"/>
              <a:t>)</a:t>
            </a:r>
          </a:p>
          <a:p>
            <a:r>
              <a:rPr lang="en-IN" sz="2400" dirty="0"/>
              <a:t>        RETURN product</a:t>
            </a:r>
          </a:p>
          <a:p>
            <a:r>
              <a:rPr lang="en-IN" sz="2400" dirty="0"/>
              <a:t>    END FUNCTION</a:t>
            </a:r>
          </a:p>
          <a:p>
            <a:endParaRPr lang="en-IN" sz="2400" dirty="0"/>
          </a:p>
          <a:p>
            <a:r>
              <a:rPr lang="en-IN" sz="2400" dirty="0"/>
              <a:t>    FUNCTION save(product)</a:t>
            </a:r>
          </a:p>
          <a:p>
            <a:r>
              <a:rPr lang="en-IN" sz="2400" dirty="0"/>
              <a:t>        store product in database</a:t>
            </a:r>
          </a:p>
          <a:p>
            <a:r>
              <a:rPr lang="en-IN" sz="2400" dirty="0"/>
              <a:t>    END FUNCTION</a:t>
            </a:r>
          </a:p>
          <a:p>
            <a:endParaRPr lang="en-IN" sz="2400" dirty="0"/>
          </a:p>
          <a:p>
            <a:r>
              <a:rPr lang="en-IN" sz="2400" dirty="0"/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1030600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8C86FE-FFC7-A5E0-B654-C9560A70ADA9}"/>
              </a:ext>
            </a:extLst>
          </p:cNvPr>
          <p:cNvSpPr txBox="1"/>
          <p:nvPr/>
        </p:nvSpPr>
        <p:spPr>
          <a:xfrm>
            <a:off x="850232" y="689811"/>
            <a:ext cx="83017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 Flow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11497-3238-33E2-D1AA-33C8896789CC}"/>
              </a:ext>
            </a:extLst>
          </p:cNvPr>
          <p:cNvSpPr txBox="1"/>
          <p:nvPr/>
        </p:nvSpPr>
        <p:spPr>
          <a:xfrm>
            <a:off x="1411705" y="1556085"/>
            <a:ext cx="77403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           UI</a:t>
            </a:r>
          </a:p>
          <a:p>
            <a:r>
              <a:rPr lang="en-IN" sz="3200" dirty="0"/>
              <a:t>            ↓</a:t>
            </a:r>
          </a:p>
          <a:p>
            <a:r>
              <a:rPr lang="en-IN" sz="3200" dirty="0"/>
              <a:t> </a:t>
            </a:r>
            <a:r>
              <a:rPr lang="en-IN" sz="3200" dirty="0" err="1"/>
              <a:t>ProductController</a:t>
            </a:r>
            <a:endParaRPr lang="en-IN" sz="3200" dirty="0"/>
          </a:p>
          <a:p>
            <a:r>
              <a:rPr lang="en-IN" sz="3200" dirty="0"/>
              <a:t>            ↓</a:t>
            </a:r>
          </a:p>
          <a:p>
            <a:r>
              <a:rPr lang="en-IN" sz="3200" dirty="0"/>
              <a:t>  </a:t>
            </a:r>
            <a:r>
              <a:rPr lang="en-IN" sz="3200" dirty="0" err="1"/>
              <a:t>ProductService</a:t>
            </a:r>
            <a:endParaRPr lang="en-IN" sz="3200" dirty="0"/>
          </a:p>
          <a:p>
            <a:r>
              <a:rPr lang="en-IN" sz="3200" dirty="0"/>
              <a:t>            ↓</a:t>
            </a:r>
          </a:p>
          <a:p>
            <a:r>
              <a:rPr lang="en-IN" sz="3200" dirty="0"/>
              <a:t>  </a:t>
            </a:r>
            <a:r>
              <a:rPr lang="en-IN" sz="3200" dirty="0" err="1"/>
              <a:t>ProductRepository</a:t>
            </a:r>
            <a:endParaRPr lang="en-IN" sz="3200" dirty="0"/>
          </a:p>
          <a:p>
            <a:r>
              <a:rPr lang="en-IN" sz="3200" dirty="0"/>
              <a:t>            ↓</a:t>
            </a:r>
          </a:p>
          <a:p>
            <a:r>
              <a:rPr lang="en-IN" sz="3200" dirty="0"/>
              <a:t>      Database</a:t>
            </a:r>
          </a:p>
        </p:txBody>
      </p:sp>
    </p:spTree>
    <p:extLst>
      <p:ext uri="{BB962C8B-B14F-4D97-AF65-F5344CB8AC3E}">
        <p14:creationId xmlns:p14="http://schemas.microsoft.com/office/powerpoint/2010/main" val="160780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F40E-3189-09F0-2872-56FCD8A3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This Module Is Important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E95DB-8963-7956-849D-0B81890F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Prevents wrong stock information</a:t>
            </a:r>
          </a:p>
          <a:p>
            <a:r>
              <a:rPr lang="en-IN" sz="2800" dirty="0"/>
              <a:t>Avoids duplicate products</a:t>
            </a:r>
          </a:p>
          <a:p>
            <a:r>
              <a:rPr lang="en-IN" sz="2800" dirty="0"/>
              <a:t>Improves customer trust</a:t>
            </a:r>
          </a:p>
          <a:p>
            <a:r>
              <a:rPr lang="en-IN" sz="2800" dirty="0"/>
              <a:t>Supports smooth online sales</a:t>
            </a:r>
          </a:p>
        </p:txBody>
      </p:sp>
    </p:spTree>
    <p:extLst>
      <p:ext uri="{BB962C8B-B14F-4D97-AF65-F5344CB8AC3E}">
        <p14:creationId xmlns:p14="http://schemas.microsoft.com/office/powerpoint/2010/main" val="3572793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30128C-9D39-72ED-BFB2-2F4148218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819514"/>
              </p:ext>
            </p:extLst>
          </p:nvPr>
        </p:nvGraphicFramePr>
        <p:xfrm>
          <a:off x="1533832" y="1700981"/>
          <a:ext cx="8626167" cy="4456953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875389">
                  <a:extLst>
                    <a:ext uri="{9D8B030D-6E8A-4147-A177-3AD203B41FA5}">
                      <a16:colId xmlns:a16="http://schemas.microsoft.com/office/drawing/2014/main" val="2198907541"/>
                    </a:ext>
                  </a:extLst>
                </a:gridCol>
                <a:gridCol w="2875389">
                  <a:extLst>
                    <a:ext uri="{9D8B030D-6E8A-4147-A177-3AD203B41FA5}">
                      <a16:colId xmlns:a16="http://schemas.microsoft.com/office/drawing/2014/main" val="4123544246"/>
                    </a:ext>
                  </a:extLst>
                </a:gridCol>
                <a:gridCol w="2875389">
                  <a:extLst>
                    <a:ext uri="{9D8B030D-6E8A-4147-A177-3AD203B41FA5}">
                      <a16:colId xmlns:a16="http://schemas.microsoft.com/office/drawing/2014/main" val="4155738591"/>
                    </a:ext>
                  </a:extLst>
                </a:gridCol>
              </a:tblGrid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631700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product_id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product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897785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sku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product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866333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992454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96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supplier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Supplier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220172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unit_price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 per unit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503922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Available stock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687000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ACTIVE / OUT_OF_STOCK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672512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 creation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934958"/>
                  </a:ext>
                </a:extLst>
              </a:tr>
              <a:tr h="383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Last update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3882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291C91-931B-72C7-D843-FD9193F04813}"/>
              </a:ext>
            </a:extLst>
          </p:cNvPr>
          <p:cNvSpPr txBox="1"/>
          <p:nvPr/>
        </p:nvSpPr>
        <p:spPr>
          <a:xfrm>
            <a:off x="946484" y="545432"/>
            <a:ext cx="82055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Database Table </a:t>
            </a:r>
          </a:p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Table Name: product</a:t>
            </a:r>
          </a:p>
        </p:txBody>
      </p:sp>
    </p:spTree>
    <p:extLst>
      <p:ext uri="{BB962C8B-B14F-4D97-AF65-F5344CB8AC3E}">
        <p14:creationId xmlns:p14="http://schemas.microsoft.com/office/powerpoint/2010/main" val="4106257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3E0E-D595-3689-8AF6-B8AD5F36F54E}"/>
              </a:ext>
            </a:extLst>
          </p:cNvPr>
          <p:cNvSpPr txBox="1"/>
          <p:nvPr/>
        </p:nvSpPr>
        <p:spPr>
          <a:xfrm>
            <a:off x="3588774" y="2706018"/>
            <a:ext cx="6184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You..</a:t>
            </a:r>
          </a:p>
        </p:txBody>
      </p:sp>
    </p:spTree>
    <p:extLst>
      <p:ext uri="{BB962C8B-B14F-4D97-AF65-F5344CB8AC3E}">
        <p14:creationId xmlns:p14="http://schemas.microsoft.com/office/powerpoint/2010/main" val="3953466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190</TotalTime>
  <Words>1241</Words>
  <Application>Microsoft Office PowerPoint</Application>
  <PresentationFormat>Widescreen</PresentationFormat>
  <Paragraphs>300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Garamond</vt:lpstr>
      <vt:lpstr>Organic</vt:lpstr>
      <vt:lpstr>Inventra Intelligent Inventory Management System</vt:lpstr>
      <vt:lpstr>Title of the Project</vt:lpstr>
      <vt:lpstr>INTRODUCTION</vt:lpstr>
      <vt:lpstr>PROBLEM STATEMENT</vt:lpstr>
      <vt:lpstr>Proposed System</vt:lpstr>
      <vt:lpstr>1. Authentication Module</vt:lpstr>
      <vt:lpstr>2. Product / Inventory Management Module</vt:lpstr>
      <vt:lpstr>3. Inventory Alerts Module</vt:lpstr>
      <vt:lpstr>4. Reports &amp; Analytics Module</vt:lpstr>
      <vt:lpstr>PowerPoint Presentation</vt:lpstr>
      <vt:lpstr>Module1 – User Authentication &amp; Role Management</vt:lpstr>
      <vt:lpstr>Classes Involved</vt:lpstr>
      <vt:lpstr>AuthController – Signup (Pseudocode)</vt:lpstr>
      <vt:lpstr>PowerPoint Presentation</vt:lpstr>
      <vt:lpstr>PowerPoint Presentation</vt:lpstr>
      <vt:lpstr>PowerPoint Presentation</vt:lpstr>
      <vt:lpstr>PowerPoint Presentation</vt:lpstr>
      <vt:lpstr>Module 2 – Product &amp; Inventory Management</vt:lpstr>
      <vt:lpstr>Classes involved in Module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This Module Is Important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vaishnavishahajivankalas@outlook.com</dc:creator>
  <cp:lastModifiedBy>vaishnavishahajivankalas@outlook.com</cp:lastModifiedBy>
  <cp:revision>4</cp:revision>
  <dcterms:created xsi:type="dcterms:W3CDTF">2025-12-02T14:50:21Z</dcterms:created>
  <dcterms:modified xsi:type="dcterms:W3CDTF">2026-02-05T13:34:11Z</dcterms:modified>
</cp:coreProperties>
</file>